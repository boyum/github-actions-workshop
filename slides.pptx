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dcf31b0f0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dcf31b0f0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Welcome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Background image: </a:t>
            </a:r>
            <a:r>
              <a:rPr lang="en-GB"/>
              <a:t>https://unsplash.com/photos/abstract-streaks-of-light-with-a-dark-background-QTPagUbFT1g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dcf31b0f0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dcf31b0f0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Make developers lives easier, better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Automate boring, repetitive and error-prone tasks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“Every time I…”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Background image: https://unsplash.com/photos/the-sun-is-setting-over-the-sand-dunes-edwB2eeyfyc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dcf31b0f07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dcf31b0f07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Lots of potential and power in these tools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All/most devs have task they wish they could automate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Proficiency = confidence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Background image: </a:t>
            </a:r>
            <a:r>
              <a:rPr lang="en-GB"/>
              <a:t>https://unsplash.com/photos/white-seal-on-soil-giZJHm2m9yY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9d1886a0f2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9d1886a0f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Tools and mechanism that make sure the default branch is in a good state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Typically means the code builds, is linted, doesn’t have severe vulnerabilities, and that tests run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Gives developers confidence that they can create feature branches based on main without worrying having to double-check the previous commits to main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Background image: </a:t>
            </a:r>
            <a:r>
              <a:rPr lang="en-GB"/>
              <a:t>https://unsplash.com/photos/abstract-flowing-green-lines-on-black-background-Jnma4hh2vUs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6ce5b209a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6ce5b209a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Tools and mechanism that make sure the default branch is in a good state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Typically means the code builds, is linted, doesn’t have severe vulnerabilities, and that tests run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Gives developers confidence that they can create feature branches based on main without worrying having to double-check the previous commits to main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Background image: https://unsplash.com/photos/abstract-flowing-green-lines-on-black-background-Jnma4hh2vUs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9d1886a0f2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9d1886a0f2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Builds on the confidence that the main branch is in a good state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Done differently in different companies, but typically means automatic deployments to test and dev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Some automatically deploy to production, most prefer having a manual, human step here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Background image: https://unsplash.com/photos/white-airplane-flying-in-the-sky-during-daytime-iiqpxCg2GD4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6ce5b209a3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6ce5b209a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Builds on the confidence that the main branch is in a good state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Done differently in different companies, but typically means automatic deployments to test and dev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Some automatically deploy to production, most prefer having a manual, human step here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Background image: https://unsplash.com/photos/white-airplane-flying-in-the-sky-during-daytime-iiqpxCg2GD4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dcf31b0f07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dcf31b0f0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The workshop might as well have been in Azure or Bitbucket, but GitHub is the simplest to start using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The </a:t>
            </a:r>
            <a:r>
              <a:rPr lang="en-GB"/>
              <a:t>concepts between these vendors are usually identical, the syntax is similar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Most devs seem to prefer GitHub, many are migrating from Azure and Bitbucket to Github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Background image: https://unsplash.com/photos/mt-fuji-n--CMLApjfI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dcf31b0f0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dcf31b0f0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Main goal is to build confidence that allows you to tinker with these tools on your own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Best case is to give inspiration for you to solve something you’ve already wished you could automate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Might give you the skills needed to help a </a:t>
            </a:r>
            <a:r>
              <a:rPr lang="en-GB"/>
              <a:t>colleague</a:t>
            </a:r>
            <a:r>
              <a:rPr lang="en-GB"/>
              <a:t> in need one day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Background image: https://unsplash.com/photos/mountains-under-white-clouds-at-daytime-pZ-XFIrJMtE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dcf31b0f07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dcf31b0f0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Feel free to work in pairs or together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Background</a:t>
            </a:r>
            <a:r>
              <a:rPr lang="en-GB"/>
              <a:t>: </a:t>
            </a:r>
            <a:r>
              <a:rPr lang="en-GB"/>
              <a:t>https://unsplash.com/photos/brown-and-white-mountain-under-white-clouds-during-daytime-lLTwa21urpY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dcf31b0f07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dcf31b0f07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dcf31b0f07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dcf31b0f07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Background image: https://unsplash.com/photos/pink-skies-kxt_ghfjHBg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url.td/gha-ws" TargetMode="External"/><Relationship Id="rId4" Type="http://schemas.openxmlformats.org/officeDocument/2006/relationships/hyperlink" Target="https://github.com/boyum/github-actions-workshop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0.jpg"/><Relationship Id="rId6" Type="http://schemas.openxmlformats.org/officeDocument/2006/relationships/hyperlink" Target="https://url.td/gha-w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1601100" y="2251925"/>
            <a:ext cx="5941800" cy="101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chemeClr val="lt1"/>
                </a:highlight>
              </a:rPr>
              <a:t>GitHub Actions</a:t>
            </a:r>
            <a:endParaRPr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23912" y="-3408100"/>
            <a:ext cx="9191824" cy="13781002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 txBox="1"/>
          <p:nvPr>
            <p:ph type="title"/>
          </p:nvPr>
        </p:nvSpPr>
        <p:spPr>
          <a:xfrm>
            <a:off x="3234900" y="2805925"/>
            <a:ext cx="54213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chemeClr val="lt1"/>
                </a:highlight>
              </a:rPr>
              <a:t>Why does GitHub Actions exist?</a:t>
            </a:r>
            <a:endParaRPr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08116"/>
            <a:ext cx="9144003" cy="6081143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 txBox="1"/>
          <p:nvPr>
            <p:ph type="title"/>
          </p:nvPr>
        </p:nvSpPr>
        <p:spPr>
          <a:xfrm>
            <a:off x="3230550" y="3888050"/>
            <a:ext cx="5469300" cy="96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chemeClr val="lt1"/>
                </a:highlight>
              </a:rPr>
              <a:t>Do we think that application devs should be proficient in CI/CD?</a:t>
            </a:r>
            <a:endParaRPr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93999" cy="517162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 txBox="1"/>
          <p:nvPr>
            <p:ph type="title"/>
          </p:nvPr>
        </p:nvSpPr>
        <p:spPr>
          <a:xfrm>
            <a:off x="433750" y="3296675"/>
            <a:ext cx="5469300" cy="96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chemeClr val="lt1"/>
                </a:highlight>
              </a:rPr>
              <a:t>CI = Continuous Integration</a:t>
            </a:r>
            <a:endParaRPr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93999" cy="517162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7"/>
          <p:cNvSpPr txBox="1"/>
          <p:nvPr>
            <p:ph type="title"/>
          </p:nvPr>
        </p:nvSpPr>
        <p:spPr>
          <a:xfrm>
            <a:off x="433750" y="3296675"/>
            <a:ext cx="5469300" cy="96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chemeClr val="lt1"/>
                </a:highlight>
              </a:rPr>
              <a:t>CI = Continuous Integration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79" name="Google Shape;79;p17"/>
          <p:cNvSpPr txBox="1"/>
          <p:nvPr>
            <p:ph type="title"/>
          </p:nvPr>
        </p:nvSpPr>
        <p:spPr>
          <a:xfrm>
            <a:off x="6250575" y="3161500"/>
            <a:ext cx="3280800" cy="96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chemeClr val="lt1"/>
                </a:highlight>
              </a:rPr>
              <a:t>Making sure main </a:t>
            </a:r>
            <a:endParaRPr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chemeClr val="lt1"/>
                </a:highlight>
              </a:rPr>
              <a:t>branch is healthy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80" name="Google Shape;80;p17"/>
          <p:cNvSpPr txBox="1"/>
          <p:nvPr>
            <p:ph type="title"/>
          </p:nvPr>
        </p:nvSpPr>
        <p:spPr>
          <a:xfrm>
            <a:off x="5351175" y="3322900"/>
            <a:ext cx="587100" cy="6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chemeClr val="lt1"/>
                </a:highlight>
              </a:rPr>
              <a:t>👉</a:t>
            </a:r>
            <a:endParaRPr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57427" cy="6103451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8"/>
          <p:cNvSpPr txBox="1"/>
          <p:nvPr>
            <p:ph type="title"/>
          </p:nvPr>
        </p:nvSpPr>
        <p:spPr>
          <a:xfrm>
            <a:off x="318650" y="755600"/>
            <a:ext cx="5469300" cy="96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chemeClr val="lt1"/>
                </a:highlight>
              </a:rPr>
              <a:t>CD = Continuous Deployment</a:t>
            </a:r>
            <a:endParaRPr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57427" cy="6103451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9"/>
          <p:cNvSpPr txBox="1"/>
          <p:nvPr>
            <p:ph type="title"/>
          </p:nvPr>
        </p:nvSpPr>
        <p:spPr>
          <a:xfrm>
            <a:off x="318650" y="755600"/>
            <a:ext cx="5469300" cy="96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chemeClr val="lt1"/>
                </a:highlight>
              </a:rPr>
              <a:t>CD = Continuous Deployment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93" name="Google Shape;93;p19"/>
          <p:cNvSpPr txBox="1"/>
          <p:nvPr>
            <p:ph type="title"/>
          </p:nvPr>
        </p:nvSpPr>
        <p:spPr>
          <a:xfrm>
            <a:off x="5095900" y="1823625"/>
            <a:ext cx="3948300" cy="96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chemeClr val="lt1"/>
                </a:highlight>
              </a:rPr>
              <a:t>“Main branch is healthy”, </a:t>
            </a:r>
            <a:endParaRPr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chemeClr val="lt1"/>
                </a:highlight>
              </a:rPr>
              <a:t>we can safely deploy</a:t>
            </a:r>
            <a:endParaRPr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" y="-459400"/>
            <a:ext cx="9144003" cy="594717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0"/>
          <p:cNvSpPr txBox="1"/>
          <p:nvPr>
            <p:ph type="title"/>
          </p:nvPr>
        </p:nvSpPr>
        <p:spPr>
          <a:xfrm>
            <a:off x="700350" y="3856000"/>
            <a:ext cx="5469300" cy="96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chemeClr val="lt1"/>
                </a:highlight>
              </a:rPr>
              <a:t>How different is GH Actions to Azure DevOps and the like?</a:t>
            </a:r>
            <a:endParaRPr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724375" y="3750600"/>
            <a:ext cx="4968600" cy="102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chemeClr val="lt1"/>
                </a:highlight>
              </a:rPr>
              <a:t>What will I learn in this workshop?</a:t>
            </a:r>
            <a:endParaRPr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316025" y="4232375"/>
            <a:ext cx="3687600" cy="6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chemeClr val="lt1"/>
                </a:highlight>
              </a:rPr>
              <a:t>Then how do we do it??</a:t>
            </a:r>
            <a:endParaRPr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256200" y="1424325"/>
            <a:ext cx="8631600" cy="23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577" u="sng">
                <a:solidFill>
                  <a:schemeClr val="hlink"/>
                </a:solidFill>
                <a:hlinkClick r:id="rId3"/>
              </a:rPr>
              <a:t>https://url.td/gha-ws</a:t>
            </a:r>
            <a:r>
              <a:rPr lang="en-GB" sz="5577"/>
              <a:t> </a:t>
            </a:r>
            <a:endParaRPr sz="5577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</a:t>
            </a:r>
            <a:r>
              <a:rPr lang="en-GB" sz="2150"/>
              <a:t>(</a:t>
            </a:r>
            <a:r>
              <a:rPr lang="en-GB" sz="2150" u="sng">
                <a:solidFill>
                  <a:schemeClr val="hlink"/>
                </a:solidFill>
                <a:hlinkClick r:id="rId4"/>
              </a:rPr>
              <a:t>https://github.com/boyum/github-actions-workshop</a:t>
            </a:r>
            <a:r>
              <a:rPr lang="en-GB" sz="2150">
                <a:solidFill>
                  <a:schemeClr val="accent2"/>
                </a:solidFill>
              </a:rPr>
              <a:t>)</a:t>
            </a:r>
            <a:endParaRPr sz="2150"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1850" y="-464125"/>
            <a:ext cx="9255849" cy="617356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4"/>
          <p:cNvSpPr txBox="1"/>
          <p:nvPr>
            <p:ph type="title"/>
          </p:nvPr>
        </p:nvSpPr>
        <p:spPr>
          <a:xfrm>
            <a:off x="1560800" y="4024425"/>
            <a:ext cx="1377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chemeClr val="lt1"/>
                </a:highlight>
              </a:rPr>
              <a:t>Vegard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121" name="Google Shape;121;p24"/>
          <p:cNvSpPr txBox="1"/>
          <p:nvPr>
            <p:ph type="title"/>
          </p:nvPr>
        </p:nvSpPr>
        <p:spPr>
          <a:xfrm>
            <a:off x="5900875" y="3936325"/>
            <a:ext cx="1377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chemeClr val="lt1"/>
                </a:highlight>
              </a:rPr>
              <a:t>Sindre</a:t>
            </a:r>
            <a:endParaRPr>
              <a:highlight>
                <a:schemeClr val="lt1"/>
              </a:highlight>
            </a:endParaRPr>
          </a:p>
        </p:txBody>
      </p:sp>
      <p:pic>
        <p:nvPicPr>
          <p:cNvPr id="122" name="Google Shape;122;p24"/>
          <p:cNvPicPr preferRelativeResize="0"/>
          <p:nvPr/>
        </p:nvPicPr>
        <p:blipFill rotWithShape="1">
          <a:blip r:embed="rId4">
            <a:alphaModFix/>
          </a:blip>
          <a:srcRect b="13732" l="16448" r="16441" t="17501"/>
          <a:stretch/>
        </p:blipFill>
        <p:spPr>
          <a:xfrm>
            <a:off x="5212574" y="1235275"/>
            <a:ext cx="2472824" cy="2528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4"/>
          <p:cNvPicPr preferRelativeResize="0"/>
          <p:nvPr/>
        </p:nvPicPr>
        <p:blipFill rotWithShape="1">
          <a:blip r:embed="rId5">
            <a:alphaModFix/>
          </a:blip>
          <a:srcRect b="9739" l="0" r="0" t="18857"/>
          <a:stretch/>
        </p:blipFill>
        <p:spPr>
          <a:xfrm>
            <a:off x="921661" y="1235275"/>
            <a:ext cx="2656189" cy="2528824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4"/>
          <p:cNvSpPr txBox="1"/>
          <p:nvPr>
            <p:ph type="title"/>
          </p:nvPr>
        </p:nvSpPr>
        <p:spPr>
          <a:xfrm>
            <a:off x="1560800" y="4449075"/>
            <a:ext cx="1377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220">
                <a:highlight>
                  <a:schemeClr val="lt1"/>
                </a:highlight>
              </a:rPr>
              <a:t>Sopra Steria</a:t>
            </a:r>
            <a:endParaRPr sz="820">
              <a:highlight>
                <a:schemeClr val="lt1"/>
              </a:highlight>
            </a:endParaRPr>
          </a:p>
        </p:txBody>
      </p:sp>
      <p:sp>
        <p:nvSpPr>
          <p:cNvPr id="125" name="Google Shape;125;p24"/>
          <p:cNvSpPr txBox="1"/>
          <p:nvPr>
            <p:ph type="title"/>
          </p:nvPr>
        </p:nvSpPr>
        <p:spPr>
          <a:xfrm>
            <a:off x="5900875" y="4360750"/>
            <a:ext cx="1377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220">
                <a:highlight>
                  <a:schemeClr val="lt1"/>
                </a:highlight>
              </a:rPr>
              <a:t>Kraftlauget</a:t>
            </a:r>
            <a:endParaRPr sz="820">
              <a:highlight>
                <a:schemeClr val="lt1"/>
              </a:highlight>
            </a:endParaRPr>
          </a:p>
        </p:txBody>
      </p:sp>
      <p:sp>
        <p:nvSpPr>
          <p:cNvPr id="126" name="Google Shape;126;p24"/>
          <p:cNvSpPr txBox="1"/>
          <p:nvPr/>
        </p:nvSpPr>
        <p:spPr>
          <a:xfrm>
            <a:off x="5753925" y="250250"/>
            <a:ext cx="3437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 u="sng">
                <a:solidFill>
                  <a:schemeClr val="accent5"/>
                </a:solidFill>
                <a:highlight>
                  <a:srgbClr val="F3F3F3"/>
                </a:highlight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https://url.td/gha-ws</a:t>
            </a:r>
            <a:r>
              <a:rPr lang="en-GB" sz="2400">
                <a:solidFill>
                  <a:schemeClr val="dk1"/>
                </a:solidFill>
                <a:highlight>
                  <a:srgbClr val="F3F3F3"/>
                </a:highlight>
              </a:rPr>
              <a:t> </a:t>
            </a:r>
            <a:endParaRPr sz="2400">
              <a:solidFill>
                <a:schemeClr val="dk2"/>
              </a:solidFill>
              <a:highlight>
                <a:srgbClr val="F3F3F3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